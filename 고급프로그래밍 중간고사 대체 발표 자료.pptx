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1" r:id="rId3"/>
    <p:sldId id="282" r:id="rId4"/>
    <p:sldId id="258" r:id="rId5"/>
    <p:sldId id="262" r:id="rId6"/>
    <p:sldId id="283" r:id="rId7"/>
    <p:sldId id="267" r:id="rId8"/>
    <p:sldId id="285" r:id="rId9"/>
    <p:sldId id="259" r:id="rId10"/>
    <p:sldId id="263" r:id="rId11"/>
    <p:sldId id="270" r:id="rId12"/>
    <p:sldId id="286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Y그래픽M" panose="02030600000101010101" pitchFamily="18" charset="-12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72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451884" y="2625326"/>
            <a:ext cx="13384232" cy="6274063"/>
            <a:chOff x="0" y="-3572"/>
            <a:chExt cx="17845643" cy="8365413"/>
          </a:xfrm>
        </p:grpSpPr>
        <p:sp>
          <p:nvSpPr>
            <p:cNvPr id="7" name="TextBox 7"/>
            <p:cNvSpPr txBox="1"/>
            <p:nvPr/>
          </p:nvSpPr>
          <p:spPr>
            <a:xfrm>
              <a:off x="2575268" y="-3572"/>
              <a:ext cx="12695108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endParaRPr lang="en-US" sz="3000" spc="3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039057"/>
              <a:ext cx="17845643" cy="23801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88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Haskell</a:t>
              </a:r>
            </a:p>
            <a:p>
              <a:pPr algn="ctr"/>
              <a:r>
                <a:rPr lang="ko-KR" altLang="en-US" sz="27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타입</a:t>
              </a:r>
              <a:r>
                <a:rPr lang="en-US" altLang="ko-KR" sz="27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, </a:t>
              </a:r>
              <a:r>
                <a:rPr lang="ko-KR" altLang="en-US" sz="27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타입클래스</a:t>
              </a:r>
              <a:r>
                <a:rPr lang="en-US" altLang="ko-KR" sz="27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, </a:t>
              </a:r>
              <a:r>
                <a:rPr lang="ko-KR" altLang="en-US" sz="27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함수</a:t>
              </a:r>
              <a:endParaRPr lang="en-US" altLang="ko-KR" sz="2700" spc="416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75267" y="7417993"/>
              <a:ext cx="12695108" cy="943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고급프로그래밍 김 주 현 교수님</a:t>
              </a:r>
              <a:endParaRPr lang="en-US" altLang="ko-KR" sz="24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  <a:p>
              <a:pPr algn="ctr"/>
              <a:r>
                <a:rPr lang="en-US" sz="21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2017948022 </a:t>
              </a:r>
              <a:r>
                <a:rPr lang="ko-KR" altLang="en-US" sz="21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소프트웨어학과 김수연</a:t>
              </a:r>
              <a:endParaRPr lang="en-US" sz="21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sp>
        <p:nvSpPr>
          <p:cNvPr id="12" name="TextBox 9">
            <a:extLst>
              <a:ext uri="{FF2B5EF4-FFF2-40B4-BE49-F238E27FC236}">
                <a16:creationId xmlns:a16="http://schemas.microsoft.com/office/drawing/2014/main" id="{DCB16833-4C27-4B9D-92D0-A480E6288615}"/>
              </a:ext>
            </a:extLst>
          </p:cNvPr>
          <p:cNvSpPr txBox="1"/>
          <p:nvPr/>
        </p:nvSpPr>
        <p:spPr>
          <a:xfrm>
            <a:off x="4383334" y="9771023"/>
            <a:ext cx="9521331" cy="43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2020.04.22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257300" y="3399333"/>
            <a:ext cx="5810646" cy="964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ko-KR" altLang="en-US" sz="4400" spc="2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</a:t>
            </a:r>
            <a:endParaRPr lang="en-US" sz="4400" spc="240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14019" y="2762250"/>
            <a:ext cx="95250" cy="47625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8" name="TextBox 8"/>
          <p:cNvSpPr txBox="1"/>
          <p:nvPr/>
        </p:nvSpPr>
        <p:spPr>
          <a:xfrm>
            <a:off x="8255341" y="2916197"/>
            <a:ext cx="8775359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데이터가 어떤 성질의 집합에 속하는 지 나타내는 것 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55341" y="4609127"/>
            <a:ext cx="8177092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하스켈에서</a:t>
            </a: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모든 표현식과 함수는 타입을 가진다</a:t>
            </a:r>
            <a:r>
              <a:rPr lang="en-US" altLang="ko-KR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55341" y="6878305"/>
            <a:ext cx="8775359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</a:t>
            </a: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컴파일러는 타입 추론을 통해 타입을 찾아낸다</a:t>
            </a:r>
            <a:r>
              <a:rPr lang="en-US" altLang="ko-KR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624339" y="3462505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표현식이 카테고리에 속하는 지</a:t>
            </a: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24339" y="5154602"/>
            <a:ext cx="8177092" cy="105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True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표현식은 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Bool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타입을 가지고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, </a:t>
            </a:r>
          </a:p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 “True”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표현식은 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String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타입을 가진다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24339" y="7423780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바이트에 의미를 부여하여 구별</a:t>
            </a:r>
            <a:endParaRPr lang="en-US" altLang="ko-KR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003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257300" y="3399333"/>
            <a:ext cx="5810646" cy="9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ko-KR" altLang="en-US" sz="4400" spc="2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 </a:t>
            </a:r>
            <a:r>
              <a:rPr lang="ko-KR" altLang="en-US" sz="4400" spc="240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어노테이션</a:t>
            </a:r>
            <a:endParaRPr lang="en-US" sz="4400" spc="240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14019" y="2762250"/>
            <a:ext cx="95250" cy="47625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9" name="TextBox 9"/>
          <p:cNvSpPr txBox="1"/>
          <p:nvPr/>
        </p:nvSpPr>
        <p:spPr>
          <a:xfrm>
            <a:off x="8255341" y="4609127"/>
            <a:ext cx="8177092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함수의 타입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25205" y="6456925"/>
            <a:ext cx="8775359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 변수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24339" y="5154602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함수를 작성할 때는 명시적으로 타입 선언을 선택할 수 있다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.</a:t>
            </a: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94203" y="7002400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어떤 타입이라도 될 수 있는 변수</a:t>
            </a: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37ECFA5D-524D-4A6D-B4FA-22164D5FDF62}"/>
              </a:ext>
            </a:extLst>
          </p:cNvPr>
          <p:cNvSpPr txBox="1"/>
          <p:nvPr/>
        </p:nvSpPr>
        <p:spPr>
          <a:xfrm>
            <a:off x="8255341" y="2761329"/>
            <a:ext cx="8177092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expression :: type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545C8640-8957-49A2-A0A8-4463633FEE79}"/>
              </a:ext>
            </a:extLst>
          </p:cNvPr>
          <p:cNvSpPr txBox="1"/>
          <p:nvPr/>
        </p:nvSpPr>
        <p:spPr>
          <a:xfrm>
            <a:off x="8624339" y="3306804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“1” :: String</a:t>
            </a:r>
          </a:p>
        </p:txBody>
      </p:sp>
      <p:pic>
        <p:nvPicPr>
          <p:cNvPr id="27" name="Picture 20">
            <a:extLst>
              <a:ext uri="{FF2B5EF4-FFF2-40B4-BE49-F238E27FC236}">
                <a16:creationId xmlns:a16="http://schemas.microsoft.com/office/drawing/2014/main" id="{53CB2188-8D18-4E67-A8E0-7D614F7878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" t="-176" r="6682" b="176"/>
          <a:stretch/>
        </p:blipFill>
        <p:spPr>
          <a:xfrm>
            <a:off x="8255341" y="2091690"/>
            <a:ext cx="8177092" cy="2128484"/>
          </a:xfrm>
          <a:prstGeom prst="rect">
            <a:avLst/>
          </a:prstGeom>
          <a:effectLst>
            <a:outerShdw blurRad="330200" dist="50800" dir="5400000" sx="103000" sy="103000" algn="t" rotWithShape="0">
              <a:prstClr val="black">
                <a:alpha val="76000"/>
              </a:prst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76563BB-DE08-4FA2-9680-882B68EDD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341" y="4676371"/>
            <a:ext cx="8177092" cy="1421324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D97B334-00B0-4039-87AA-713C0C136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341" y="6509773"/>
            <a:ext cx="8288753" cy="959371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310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71500" y="168442"/>
            <a:ext cx="7058225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ko-KR" altLang="en-US" sz="2000" spc="319" dirty="0" err="1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하스켈에서</a:t>
            </a:r>
            <a:r>
              <a:rPr lang="ko-KR" altLang="en-US" sz="2000" spc="319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제공하는 기본 타입 중 자주 쓰이는 타입</a:t>
            </a:r>
            <a:endParaRPr lang="en-US" sz="2000" spc="319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058149" y="4035504"/>
            <a:ext cx="21717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3600" spc="-146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Int, Integer</a:t>
            </a:r>
          </a:p>
          <a:p>
            <a:pPr algn="ctr"/>
            <a:r>
              <a:rPr lang="en-US" altLang="ko-KR" sz="3600" spc="-146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Float</a:t>
            </a:r>
          </a:p>
          <a:p>
            <a:pPr algn="ctr"/>
            <a:r>
              <a:rPr lang="en-US" altLang="ko-KR" sz="3600" spc="-146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Bool</a:t>
            </a:r>
          </a:p>
          <a:p>
            <a:pPr algn="ctr"/>
            <a:r>
              <a:rPr lang="en-US" altLang="ko-KR" sz="3600" spc="-146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Char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171700" y="2764792"/>
            <a:ext cx="6667900" cy="1073795"/>
            <a:chOff x="0" y="31552"/>
            <a:chExt cx="8890533" cy="1431727"/>
          </a:xfrm>
        </p:grpSpPr>
        <p:sp>
          <p:nvSpPr>
            <p:cNvPr id="5" name="TextBox 5"/>
            <p:cNvSpPr txBox="1"/>
            <p:nvPr/>
          </p:nvSpPr>
          <p:spPr>
            <a:xfrm>
              <a:off x="0" y="31552"/>
              <a:ext cx="8890533" cy="687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60"/>
                </a:lnSpc>
              </a:pPr>
              <a:r>
                <a:rPr lang="en-US" sz="3600" spc="3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Functions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87651"/>
              <a:ext cx="8890533" cy="57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t1</a:t>
              </a:r>
              <a:r>
                <a:rPr lang="ko-KR" alt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en-US" altLang="ko-KR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-&gt; t2 (</a:t>
              </a:r>
              <a:r>
                <a:rPr lang="ko-KR" alt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무언가의 타입 </a:t>
              </a:r>
              <a:r>
                <a:rPr lang="en-US" altLang="ko-KR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-&gt; </a:t>
              </a:r>
              <a:r>
                <a:rPr lang="ko-KR" alt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무언가의 타입</a:t>
              </a:r>
              <a:r>
                <a:rPr lang="en-US" altLang="ko-KR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91400" y="2898098"/>
            <a:ext cx="6667900" cy="1073796"/>
            <a:chOff x="0" y="31552"/>
            <a:chExt cx="8890533" cy="1431728"/>
          </a:xfrm>
        </p:grpSpPr>
        <p:sp>
          <p:nvSpPr>
            <p:cNvPr id="9" name="TextBox 9"/>
            <p:cNvSpPr txBox="1"/>
            <p:nvPr/>
          </p:nvSpPr>
          <p:spPr>
            <a:xfrm>
              <a:off x="0" y="31552"/>
              <a:ext cx="8890533" cy="687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60"/>
                </a:lnSpc>
              </a:pPr>
              <a:r>
                <a:rPr lang="en-US" sz="3600" spc="3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List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87652"/>
              <a:ext cx="8890533" cy="57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++, :, head, tail …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71700" y="5776777"/>
            <a:ext cx="6667900" cy="1573933"/>
            <a:chOff x="0" y="31552"/>
            <a:chExt cx="8890533" cy="209857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1552"/>
              <a:ext cx="8890533" cy="687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60"/>
                </a:lnSpc>
              </a:pPr>
              <a:r>
                <a:rPr lang="en-US" sz="3600" spc="3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String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887652"/>
              <a:ext cx="8890533" cy="1242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Char</a:t>
              </a:r>
              <a:r>
                <a:rPr lang="ko-KR" alt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의 </a:t>
              </a:r>
              <a:r>
                <a:rPr lang="en-US" altLang="ko-KR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List</a:t>
              </a:r>
              <a:r>
                <a:rPr lang="ko-KR" alt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이지만 문자열 표현을 허용한 타입</a:t>
              </a:r>
              <a:endParaRPr lang="en-US" sz="26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91400" y="5867202"/>
            <a:ext cx="6667900" cy="1121542"/>
            <a:chOff x="0" y="361950"/>
            <a:chExt cx="8890533" cy="1495389"/>
          </a:xfrm>
        </p:grpSpPr>
        <p:sp>
          <p:nvSpPr>
            <p:cNvPr id="16" name="TextBox 16"/>
            <p:cNvSpPr txBox="1"/>
            <p:nvPr/>
          </p:nvSpPr>
          <p:spPr>
            <a:xfrm>
              <a:off x="0" y="361950"/>
              <a:ext cx="8890533" cy="6872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60"/>
                </a:lnSpc>
              </a:pPr>
              <a:r>
                <a:rPr lang="en-US" sz="3600" spc="3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Tuple (=Pair)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281711"/>
              <a:ext cx="8890533" cy="57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0"/>
                </a:lnSpc>
              </a:pPr>
              <a:r>
                <a:rPr lang="ko-KR" altLang="en-US" sz="2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서로 다른 성분의 나열</a:t>
              </a:r>
              <a:endParaRPr lang="en-US" sz="26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3069513"/>
            <a:ext cx="762000" cy="762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9448400" y="3069513"/>
            <a:ext cx="762000" cy="762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28700" y="6062650"/>
            <a:ext cx="762000" cy="762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9448400" y="6062650"/>
            <a:ext cx="762000" cy="762000"/>
          </a:xfrm>
          <a:prstGeom prst="rect">
            <a:avLst/>
          </a:prstGeom>
        </p:spPr>
      </p:pic>
      <p:sp>
        <p:nvSpPr>
          <p:cNvPr id="22" name="TextBox 4">
            <a:extLst>
              <a:ext uri="{FF2B5EF4-FFF2-40B4-BE49-F238E27FC236}">
                <a16:creationId xmlns:a16="http://schemas.microsoft.com/office/drawing/2014/main" id="{B99EE48E-B748-4E4E-9E45-E219846F7C52}"/>
              </a:ext>
            </a:extLst>
          </p:cNvPr>
          <p:cNvSpPr txBox="1"/>
          <p:nvPr/>
        </p:nvSpPr>
        <p:spPr>
          <a:xfrm>
            <a:off x="571500" y="168442"/>
            <a:ext cx="7058225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ko-KR" altLang="en-US" sz="2000" spc="319" dirty="0" err="1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하스켈에서</a:t>
            </a:r>
            <a:r>
              <a:rPr lang="ko-KR" altLang="en-US" sz="2000" spc="319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제공하는 기본 타입 중 자주 쓰이는 타입</a:t>
            </a:r>
            <a:endParaRPr lang="en-US" sz="2000" spc="319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198BFC7-6D57-4B30-8E54-7C1CE0273B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1700" y="6482837"/>
            <a:ext cx="6362700" cy="846649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F5D6B55-F208-4E79-8DF6-3AF1FD41C0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9858" b="1759"/>
          <a:stretch/>
        </p:blipFill>
        <p:spPr>
          <a:xfrm>
            <a:off x="10568746" y="6624607"/>
            <a:ext cx="6667900" cy="621346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257300" y="3399333"/>
            <a:ext cx="5810646" cy="9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ko-KR" altLang="en-US" sz="4400" spc="2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 클래스</a:t>
            </a:r>
            <a:endParaRPr lang="en-US" sz="4400" spc="240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14019" y="2762250"/>
            <a:ext cx="95250" cy="47625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8" name="TextBox 8"/>
          <p:cNvSpPr txBox="1"/>
          <p:nvPr/>
        </p:nvSpPr>
        <p:spPr>
          <a:xfrm>
            <a:off x="8255341" y="2916197"/>
            <a:ext cx="8775359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타입의 분류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55341" y="4609127"/>
            <a:ext cx="8177092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어떤 연산을 지원하는 타입의 모임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55341" y="6302056"/>
            <a:ext cx="8775359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인스턴스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624339" y="3462505"/>
            <a:ext cx="8177092" cy="105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어떤 타입이 어떤 성질을 가지고 있는지</a:t>
            </a:r>
          </a:p>
          <a:p>
            <a:pPr>
              <a:lnSpc>
                <a:spcPts val="4500"/>
              </a:lnSpc>
            </a:pP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24339" y="5154602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해당 타입이 그 타입 클래스에 속하기 위해 갖춰야하는 작동을 특정</a:t>
            </a: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24339" y="6890358"/>
            <a:ext cx="8177092" cy="47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해당 타입 클래스의 인스턴스인 타입에 대해서만 제대로 작동</a:t>
            </a:r>
            <a:endParaRPr lang="en-US" altLang="ko-KR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92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4">
            <a:extLst>
              <a:ext uri="{FF2B5EF4-FFF2-40B4-BE49-F238E27FC236}">
                <a16:creationId xmlns:a16="http://schemas.microsoft.com/office/drawing/2014/main" id="{5D540CC8-2342-4B85-88AF-647B4E728637}"/>
              </a:ext>
            </a:extLst>
          </p:cNvPr>
          <p:cNvSpPr txBox="1"/>
          <p:nvPr/>
        </p:nvSpPr>
        <p:spPr>
          <a:xfrm>
            <a:off x="571500" y="168442"/>
            <a:ext cx="8382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ko-KR" altLang="en-US" sz="2000" spc="319" dirty="0" err="1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하스켈에서</a:t>
            </a:r>
            <a:r>
              <a:rPr lang="ko-KR" altLang="en-US" sz="2000" spc="319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제공하는 기본 클래스 중 자주 쓰이는 타입 클래스</a:t>
            </a:r>
            <a:endParaRPr lang="en-US" sz="2000" spc="319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04DD5CA-A5D6-4145-8B9C-33EC6D9189CF}"/>
              </a:ext>
            </a:extLst>
          </p:cNvPr>
          <p:cNvGrpSpPr/>
          <p:nvPr/>
        </p:nvGrpSpPr>
        <p:grpSpPr>
          <a:xfrm>
            <a:off x="381000" y="952500"/>
            <a:ext cx="8572500" cy="4000500"/>
            <a:chOff x="381000" y="952500"/>
            <a:chExt cx="8572500" cy="4000500"/>
          </a:xfrm>
        </p:grpSpPr>
        <p:grpSp>
          <p:nvGrpSpPr>
            <p:cNvPr id="4" name="Group 4"/>
            <p:cNvGrpSpPr/>
            <p:nvPr/>
          </p:nvGrpSpPr>
          <p:grpSpPr>
            <a:xfrm>
              <a:off x="381000" y="952500"/>
              <a:ext cx="8572500" cy="4000500"/>
              <a:chOff x="0" y="0"/>
              <a:chExt cx="4921431" cy="229666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921431" cy="2296668"/>
              </a:xfrm>
              <a:custGeom>
                <a:avLst/>
                <a:gdLst/>
                <a:ahLst/>
                <a:cxnLst/>
                <a:rect l="l" t="t" r="r" b="b"/>
                <a:pathLst>
                  <a:path w="4921431" h="2296668">
                    <a:moveTo>
                      <a:pt x="4796972" y="59690"/>
                    </a:moveTo>
                    <a:cubicBezTo>
                      <a:pt x="4832531" y="59690"/>
                      <a:pt x="4861741" y="88900"/>
                      <a:pt x="4861741" y="124460"/>
                    </a:cubicBezTo>
                    <a:lnTo>
                      <a:pt x="4861741" y="2172208"/>
                    </a:lnTo>
                    <a:cubicBezTo>
                      <a:pt x="4861741" y="2207768"/>
                      <a:pt x="4832531" y="2236978"/>
                      <a:pt x="4796972" y="2236978"/>
                    </a:cubicBezTo>
                    <a:lnTo>
                      <a:pt x="124460" y="2236978"/>
                    </a:lnTo>
                    <a:cubicBezTo>
                      <a:pt x="88900" y="2236978"/>
                      <a:pt x="59690" y="2207768"/>
                      <a:pt x="59690" y="217220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4796972" y="59690"/>
                    </a:lnTo>
                    <a:moveTo>
                      <a:pt x="4796972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72208"/>
                    </a:lnTo>
                    <a:cubicBezTo>
                      <a:pt x="0" y="2240788"/>
                      <a:pt x="55880" y="2296668"/>
                      <a:pt x="124460" y="2296668"/>
                    </a:cubicBezTo>
                    <a:lnTo>
                      <a:pt x="4796972" y="2296668"/>
                    </a:lnTo>
                    <a:cubicBezTo>
                      <a:pt x="4865551" y="2296668"/>
                      <a:pt x="4921431" y="2240788"/>
                      <a:pt x="4921431" y="2172208"/>
                    </a:cubicBezTo>
                    <a:lnTo>
                      <a:pt x="4921431" y="124460"/>
                    </a:lnTo>
                    <a:cubicBezTo>
                      <a:pt x="4921431" y="55880"/>
                      <a:pt x="4865551" y="0"/>
                      <a:pt x="4796972" y="0"/>
                    </a:cubicBezTo>
                    <a:close/>
                  </a:path>
                </a:pathLst>
              </a:custGeom>
              <a:solidFill>
                <a:srgbClr val="F4CC7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785480" y="1257300"/>
              <a:ext cx="7696200" cy="826959"/>
              <a:chOff x="0" y="35123"/>
              <a:chExt cx="9144533" cy="110261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0" y="35123"/>
                <a:ext cx="9144533" cy="3693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pc="319" dirty="0">
                    <a:solidFill>
                      <a:srgbClr val="F4CC7D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Eq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809440"/>
                <a:ext cx="9144533" cy="32829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(==), (/=) </a:t>
                </a:r>
                <a:r>
                  <a:rPr lang="ko-KR" alt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두 메서드로 같거나 다름을 비교</a:t>
                </a:r>
                <a:endParaRPr lang="en-US" sz="1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</p:grp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50D784D-E503-409A-82A3-30EC4B790B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3831"/>
            <a:stretch/>
          </p:blipFill>
          <p:spPr>
            <a:xfrm>
              <a:off x="1353436" y="2654321"/>
              <a:ext cx="6818128" cy="1064706"/>
            </a:xfrm>
            <a:prstGeom prst="rect">
              <a:avLst/>
            </a:prstGeom>
            <a:effectLst>
              <a:outerShdw blurRad="304800" dist="50800" dir="5400000" sx="103000" sy="103000" algn="ctr" rotWithShape="0">
                <a:srgbClr val="000000">
                  <a:alpha val="74000"/>
                </a:srgbClr>
              </a:outerShdw>
            </a:effectLst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59414DA-2829-4553-B279-0248BB957489}"/>
              </a:ext>
            </a:extLst>
          </p:cNvPr>
          <p:cNvGrpSpPr/>
          <p:nvPr/>
        </p:nvGrpSpPr>
        <p:grpSpPr>
          <a:xfrm>
            <a:off x="381000" y="5334000"/>
            <a:ext cx="8572500" cy="4000500"/>
            <a:chOff x="381000" y="5334000"/>
            <a:chExt cx="8572500" cy="4000500"/>
          </a:xfrm>
        </p:grpSpPr>
        <p:grpSp>
          <p:nvGrpSpPr>
            <p:cNvPr id="2" name="Group 2"/>
            <p:cNvGrpSpPr/>
            <p:nvPr/>
          </p:nvGrpSpPr>
          <p:grpSpPr>
            <a:xfrm>
              <a:off x="381000" y="5334000"/>
              <a:ext cx="8572500" cy="4000500"/>
              <a:chOff x="0" y="0"/>
              <a:chExt cx="4921431" cy="2296668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4921431" cy="2296668"/>
              </a:xfrm>
              <a:custGeom>
                <a:avLst/>
                <a:gdLst/>
                <a:ahLst/>
                <a:cxnLst/>
                <a:rect l="l" t="t" r="r" b="b"/>
                <a:pathLst>
                  <a:path w="4921431" h="2296668">
                    <a:moveTo>
                      <a:pt x="4796972" y="59690"/>
                    </a:moveTo>
                    <a:cubicBezTo>
                      <a:pt x="4832531" y="59690"/>
                      <a:pt x="4861741" y="88900"/>
                      <a:pt x="4861741" y="124460"/>
                    </a:cubicBezTo>
                    <a:lnTo>
                      <a:pt x="4861741" y="2172208"/>
                    </a:lnTo>
                    <a:cubicBezTo>
                      <a:pt x="4861741" y="2207768"/>
                      <a:pt x="4832531" y="2236978"/>
                      <a:pt x="4796972" y="2236978"/>
                    </a:cubicBezTo>
                    <a:lnTo>
                      <a:pt x="124460" y="2236978"/>
                    </a:lnTo>
                    <a:cubicBezTo>
                      <a:pt x="88900" y="2236978"/>
                      <a:pt x="59690" y="2207768"/>
                      <a:pt x="59690" y="217220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4796972" y="59690"/>
                    </a:lnTo>
                    <a:moveTo>
                      <a:pt x="4796972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72208"/>
                    </a:lnTo>
                    <a:cubicBezTo>
                      <a:pt x="0" y="2240788"/>
                      <a:pt x="55880" y="2296668"/>
                      <a:pt x="124460" y="2296668"/>
                    </a:cubicBezTo>
                    <a:lnTo>
                      <a:pt x="4796972" y="2296668"/>
                    </a:lnTo>
                    <a:cubicBezTo>
                      <a:pt x="4865551" y="2296668"/>
                      <a:pt x="4921431" y="2240788"/>
                      <a:pt x="4921431" y="2172208"/>
                    </a:cubicBezTo>
                    <a:lnTo>
                      <a:pt x="4921431" y="124460"/>
                    </a:lnTo>
                    <a:cubicBezTo>
                      <a:pt x="4921431" y="55880"/>
                      <a:pt x="4865551" y="0"/>
                      <a:pt x="4796972" y="0"/>
                    </a:cubicBezTo>
                    <a:close/>
                  </a:path>
                </a:pathLst>
              </a:custGeom>
              <a:solidFill>
                <a:srgbClr val="F4CC7D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785480" y="5676900"/>
              <a:ext cx="7696200" cy="1073181"/>
              <a:chOff x="0" y="35123"/>
              <a:chExt cx="9144533" cy="143090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0" y="35123"/>
                <a:ext cx="9144533" cy="3693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pc="319" dirty="0">
                    <a:solidFill>
                      <a:srgbClr val="F4CC7D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Read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809440"/>
                <a:ext cx="9144533" cy="65659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타입 </a:t>
                </a:r>
                <a:r>
                  <a:rPr lang="ko-KR" altLang="en-US" sz="1600" dirty="0" err="1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어노테이션한</a:t>
                </a:r>
                <a:r>
                  <a:rPr lang="ko-KR" alt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 값을 적용하면 문자열로 표현된 값을 지정한 타입으로 변환</a:t>
                </a:r>
                <a:endParaRPr lang="en-US" sz="1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</p:grp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4B3723FF-B71E-44C1-93E0-D71B4D95D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854" y="7266300"/>
              <a:ext cx="4487292" cy="468000"/>
            </a:xfrm>
            <a:prstGeom prst="rect">
              <a:avLst/>
            </a:prstGeom>
            <a:effectLst>
              <a:outerShdw blurRad="304800" dist="50800" dir="5400000" sx="103000" sy="103000" algn="ctr" rotWithShape="0">
                <a:srgbClr val="000000">
                  <a:alpha val="74000"/>
                </a:srgbClr>
              </a:outerShdw>
            </a:effectLst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4EE78D5-EF2B-40CA-BE86-441594A0813E}"/>
              </a:ext>
            </a:extLst>
          </p:cNvPr>
          <p:cNvGrpSpPr/>
          <p:nvPr/>
        </p:nvGrpSpPr>
        <p:grpSpPr>
          <a:xfrm>
            <a:off x="9334500" y="5334000"/>
            <a:ext cx="8572500" cy="4000500"/>
            <a:chOff x="9334500" y="5334000"/>
            <a:chExt cx="8572500" cy="4000500"/>
          </a:xfrm>
        </p:grpSpPr>
        <p:grpSp>
          <p:nvGrpSpPr>
            <p:cNvPr id="8" name="Group 8"/>
            <p:cNvGrpSpPr/>
            <p:nvPr/>
          </p:nvGrpSpPr>
          <p:grpSpPr>
            <a:xfrm>
              <a:off x="9334500" y="5334000"/>
              <a:ext cx="8572500" cy="4000500"/>
              <a:chOff x="0" y="0"/>
              <a:chExt cx="4921431" cy="229666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921431" cy="2296668"/>
              </a:xfrm>
              <a:custGeom>
                <a:avLst/>
                <a:gdLst/>
                <a:ahLst/>
                <a:cxnLst/>
                <a:rect l="l" t="t" r="r" b="b"/>
                <a:pathLst>
                  <a:path w="4921431" h="2296668">
                    <a:moveTo>
                      <a:pt x="4796972" y="59690"/>
                    </a:moveTo>
                    <a:cubicBezTo>
                      <a:pt x="4832531" y="59690"/>
                      <a:pt x="4861741" y="88900"/>
                      <a:pt x="4861741" y="124460"/>
                    </a:cubicBezTo>
                    <a:lnTo>
                      <a:pt x="4861741" y="2172208"/>
                    </a:lnTo>
                    <a:cubicBezTo>
                      <a:pt x="4861741" y="2207768"/>
                      <a:pt x="4832531" y="2236978"/>
                      <a:pt x="4796972" y="2236978"/>
                    </a:cubicBezTo>
                    <a:lnTo>
                      <a:pt x="124460" y="2236978"/>
                    </a:lnTo>
                    <a:cubicBezTo>
                      <a:pt x="88900" y="2236978"/>
                      <a:pt x="59690" y="2207768"/>
                      <a:pt x="59690" y="217220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4796972" y="59690"/>
                    </a:lnTo>
                    <a:moveTo>
                      <a:pt x="4796972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72208"/>
                    </a:lnTo>
                    <a:cubicBezTo>
                      <a:pt x="0" y="2240788"/>
                      <a:pt x="55880" y="2296668"/>
                      <a:pt x="124460" y="2296668"/>
                    </a:cubicBezTo>
                    <a:lnTo>
                      <a:pt x="4796972" y="2296668"/>
                    </a:lnTo>
                    <a:cubicBezTo>
                      <a:pt x="4865551" y="2296668"/>
                      <a:pt x="4921431" y="2240788"/>
                      <a:pt x="4921431" y="2172208"/>
                    </a:cubicBezTo>
                    <a:lnTo>
                      <a:pt x="4921431" y="124460"/>
                    </a:lnTo>
                    <a:cubicBezTo>
                      <a:pt x="4921431" y="55880"/>
                      <a:pt x="4865551" y="0"/>
                      <a:pt x="4796972" y="0"/>
                    </a:cubicBezTo>
                    <a:close/>
                  </a:path>
                </a:pathLst>
              </a:custGeom>
              <a:solidFill>
                <a:srgbClr val="F4CC7D"/>
              </a:solidFill>
            </p:spPr>
          </p:sp>
        </p:grpSp>
        <p:grpSp>
          <p:nvGrpSpPr>
            <p:cNvPr id="30" name="Group 14">
              <a:extLst>
                <a:ext uri="{FF2B5EF4-FFF2-40B4-BE49-F238E27FC236}">
                  <a16:creationId xmlns:a16="http://schemas.microsoft.com/office/drawing/2014/main" id="{E28F8FCA-3F26-4320-9226-61D902A8AD6B}"/>
                </a:ext>
              </a:extLst>
            </p:cNvPr>
            <p:cNvGrpSpPr/>
            <p:nvPr/>
          </p:nvGrpSpPr>
          <p:grpSpPr>
            <a:xfrm>
              <a:off x="9753600" y="5676900"/>
              <a:ext cx="7696200" cy="826959"/>
              <a:chOff x="0" y="35123"/>
              <a:chExt cx="9144533" cy="1102612"/>
            </a:xfrm>
          </p:grpSpPr>
          <p:sp>
            <p:nvSpPr>
              <p:cNvPr id="31" name="TextBox 15">
                <a:extLst>
                  <a:ext uri="{FF2B5EF4-FFF2-40B4-BE49-F238E27FC236}">
                    <a16:creationId xmlns:a16="http://schemas.microsoft.com/office/drawing/2014/main" id="{7D3D5B2F-E3A2-4321-8684-8734CC0B0949}"/>
                  </a:ext>
                </a:extLst>
              </p:cNvPr>
              <p:cNvSpPr txBox="1"/>
              <p:nvPr/>
            </p:nvSpPr>
            <p:spPr>
              <a:xfrm>
                <a:off x="0" y="35123"/>
                <a:ext cx="9144533" cy="3693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pc="319" dirty="0">
                    <a:solidFill>
                      <a:srgbClr val="F4CC7D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Show</a:t>
                </a:r>
              </a:p>
            </p:txBody>
          </p:sp>
          <p:sp>
            <p:nvSpPr>
              <p:cNvPr id="32" name="TextBox 16">
                <a:extLst>
                  <a:ext uri="{FF2B5EF4-FFF2-40B4-BE49-F238E27FC236}">
                    <a16:creationId xmlns:a16="http://schemas.microsoft.com/office/drawing/2014/main" id="{A59BB77A-E2A5-4219-91B5-F9DE463A326E}"/>
                  </a:ext>
                </a:extLst>
              </p:cNvPr>
              <p:cNvSpPr txBox="1"/>
              <p:nvPr/>
            </p:nvSpPr>
            <p:spPr>
              <a:xfrm>
                <a:off x="0" y="809440"/>
                <a:ext cx="9144533" cy="32829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Show</a:t>
                </a:r>
                <a:r>
                  <a:rPr lang="ko-KR" alt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에 적용한 인스턴스 값을 문자열로 표현</a:t>
                </a:r>
                <a:endParaRPr lang="en-US" sz="1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</p:grp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34637D0F-364C-4DB3-B7DE-A5C730E4C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14498" y="7236124"/>
              <a:ext cx="2974404" cy="498176"/>
            </a:xfrm>
            <a:prstGeom prst="rect">
              <a:avLst/>
            </a:prstGeom>
            <a:effectLst>
              <a:outerShdw blurRad="304800" dist="50800" dir="5400000" sx="103000" sy="103000" algn="ctr" rotWithShape="0">
                <a:srgbClr val="000000">
                  <a:alpha val="74000"/>
                </a:srgbClr>
              </a:outerShdw>
            </a:effectLst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DE0CEAD-BBCE-4DA9-B150-E39CEF5FC750}"/>
              </a:ext>
            </a:extLst>
          </p:cNvPr>
          <p:cNvGrpSpPr/>
          <p:nvPr/>
        </p:nvGrpSpPr>
        <p:grpSpPr>
          <a:xfrm>
            <a:off x="9334500" y="952500"/>
            <a:ext cx="8572500" cy="4000500"/>
            <a:chOff x="9334500" y="952500"/>
            <a:chExt cx="8572500" cy="4000500"/>
          </a:xfrm>
        </p:grpSpPr>
        <p:grpSp>
          <p:nvGrpSpPr>
            <p:cNvPr id="6" name="Group 6"/>
            <p:cNvGrpSpPr/>
            <p:nvPr/>
          </p:nvGrpSpPr>
          <p:grpSpPr>
            <a:xfrm>
              <a:off x="9334500" y="952500"/>
              <a:ext cx="8572500" cy="4000500"/>
              <a:chOff x="0" y="0"/>
              <a:chExt cx="4921431" cy="229666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921431" cy="2296668"/>
              </a:xfrm>
              <a:custGeom>
                <a:avLst/>
                <a:gdLst/>
                <a:ahLst/>
                <a:cxnLst/>
                <a:rect l="l" t="t" r="r" b="b"/>
                <a:pathLst>
                  <a:path w="4921431" h="2296668">
                    <a:moveTo>
                      <a:pt x="4796972" y="59690"/>
                    </a:moveTo>
                    <a:cubicBezTo>
                      <a:pt x="4832531" y="59690"/>
                      <a:pt x="4861741" y="88900"/>
                      <a:pt x="4861741" y="124460"/>
                    </a:cubicBezTo>
                    <a:lnTo>
                      <a:pt x="4861741" y="2172208"/>
                    </a:lnTo>
                    <a:cubicBezTo>
                      <a:pt x="4861741" y="2207768"/>
                      <a:pt x="4832531" y="2236978"/>
                      <a:pt x="4796972" y="2236978"/>
                    </a:cubicBezTo>
                    <a:lnTo>
                      <a:pt x="124460" y="2236978"/>
                    </a:lnTo>
                    <a:cubicBezTo>
                      <a:pt x="88900" y="2236978"/>
                      <a:pt x="59690" y="2207768"/>
                      <a:pt x="59690" y="217220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4796972" y="59690"/>
                    </a:lnTo>
                    <a:moveTo>
                      <a:pt x="4796972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72208"/>
                    </a:lnTo>
                    <a:cubicBezTo>
                      <a:pt x="0" y="2240788"/>
                      <a:pt x="55880" y="2296668"/>
                      <a:pt x="124460" y="2296668"/>
                    </a:cubicBezTo>
                    <a:lnTo>
                      <a:pt x="4796972" y="2296668"/>
                    </a:lnTo>
                    <a:cubicBezTo>
                      <a:pt x="4865551" y="2296668"/>
                      <a:pt x="4921431" y="2240788"/>
                      <a:pt x="4921431" y="2172208"/>
                    </a:cubicBezTo>
                    <a:lnTo>
                      <a:pt x="4921431" y="124460"/>
                    </a:lnTo>
                    <a:cubicBezTo>
                      <a:pt x="4921431" y="55880"/>
                      <a:pt x="4865551" y="0"/>
                      <a:pt x="4796972" y="0"/>
                    </a:cubicBezTo>
                    <a:close/>
                  </a:path>
                </a:pathLst>
              </a:custGeom>
              <a:solidFill>
                <a:srgbClr val="F4CC7D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9772650" y="1257300"/>
              <a:ext cx="7696200" cy="826959"/>
              <a:chOff x="0" y="35123"/>
              <a:chExt cx="9144533" cy="1102612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0" y="35123"/>
                <a:ext cx="9144533" cy="3693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ko-KR" altLang="en-US" spc="319" dirty="0">
                    <a:solidFill>
                      <a:srgbClr val="F4CC7D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인스턴스</a:t>
                </a:r>
                <a:endParaRPr lang="en-US" spc="319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809440"/>
                <a:ext cx="9144533" cy="32829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ko-KR" altLang="en-US" sz="1600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타입 클래스 제약이 지켜지지 않으면 에러 발생</a:t>
                </a:r>
                <a:endParaRPr lang="en-US" altLang="ko-KR" sz="16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67852D18-5BC9-4476-BA2E-645E5DB827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6434"/>
            <a:stretch/>
          </p:blipFill>
          <p:spPr>
            <a:xfrm>
              <a:off x="10001250" y="3290169"/>
              <a:ext cx="7239000" cy="1311566"/>
            </a:xfrm>
            <a:prstGeom prst="rect">
              <a:avLst/>
            </a:prstGeom>
            <a:effectLst>
              <a:outerShdw blurRad="304800" dist="50800" dir="5400000" sx="103000" sy="103000" algn="ctr" rotWithShape="0">
                <a:srgbClr val="000000">
                  <a:alpha val="74000"/>
                </a:srgbClr>
              </a:outerShdw>
            </a:effectLst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D47279B9-C4C5-4B70-8D45-43172F79E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01250" y="2569811"/>
              <a:ext cx="7239600" cy="453284"/>
            </a:xfrm>
            <a:prstGeom prst="rect">
              <a:avLst/>
            </a:prstGeom>
            <a:effectLst>
              <a:outerShdw blurRad="304800" dist="50800" dir="5400000" sx="103000" sy="103000" algn="ctr" rotWithShape="0">
                <a:srgbClr val="000000">
                  <a:alpha val="74000"/>
                </a:srgb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257300" y="3399333"/>
            <a:ext cx="5810646" cy="964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ko-KR" altLang="en-US" sz="4400" spc="2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함수</a:t>
            </a:r>
            <a:endParaRPr lang="en-US" sz="4400" spc="240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14019" y="2762250"/>
            <a:ext cx="95250" cy="47625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6155EC3-B131-4748-8B8A-218A0400EF42}"/>
              </a:ext>
            </a:extLst>
          </p:cNvPr>
          <p:cNvSpPr txBox="1"/>
          <p:nvPr/>
        </p:nvSpPr>
        <p:spPr>
          <a:xfrm>
            <a:off x="8255341" y="2991930"/>
            <a:ext cx="8775359" cy="388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en-US" altLang="ko-KR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N</a:t>
            </a: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개의 인자를 받아</a:t>
            </a:r>
            <a:r>
              <a:rPr lang="en-US" altLang="ko-KR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, </a:t>
            </a: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어떤 하나의 결과를 내는 대응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ECE9993-3AAD-41A6-A15A-3B0255CD5C24}"/>
              </a:ext>
            </a:extLst>
          </p:cNvPr>
          <p:cNvSpPr txBox="1"/>
          <p:nvPr/>
        </p:nvSpPr>
        <p:spPr>
          <a:xfrm>
            <a:off x="8624339" y="3538238"/>
            <a:ext cx="8177092" cy="163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함수와 인자에 이름을 부여하고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,</a:t>
            </a:r>
          </a:p>
          <a:p>
            <a:pPr>
              <a:lnSpc>
                <a:spcPts val="4500"/>
              </a:lnSpc>
            </a:pP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그 인자를 통해 결과를 어떻게 계산할지 </a:t>
            </a:r>
            <a:r>
              <a:rPr lang="ko-KR" altLang="en-US" sz="2000" dirty="0" err="1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적어놓은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바디로 이루어진 등식</a:t>
            </a:r>
            <a:endParaRPr lang="en-US" altLang="ko-KR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  <a:p>
            <a:pPr>
              <a:lnSpc>
                <a:spcPts val="4500"/>
              </a:lnSpc>
            </a:pP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54D8DEF-E4AC-4F6A-B5C4-C5185497B5A5}"/>
              </a:ext>
            </a:extLst>
          </p:cNvPr>
          <p:cNvSpPr txBox="1"/>
          <p:nvPr/>
        </p:nvSpPr>
        <p:spPr>
          <a:xfrm>
            <a:off x="8255341" y="5373395"/>
            <a:ext cx="8177092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ko-KR" altLang="en-US" sz="2400" spc="319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</a:t>
            </a:r>
            <a:r>
              <a:rPr lang="ko-KR" altLang="en-US" sz="24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프로그램은 함수들의 집합</a:t>
            </a:r>
            <a:endParaRPr lang="en-US" sz="24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B158AE9-C769-4825-AB04-2F601EB2E406}"/>
              </a:ext>
            </a:extLst>
          </p:cNvPr>
          <p:cNvSpPr txBox="1"/>
          <p:nvPr/>
        </p:nvSpPr>
        <p:spPr>
          <a:xfrm>
            <a:off x="8624339" y="5918870"/>
            <a:ext cx="8177092" cy="105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=&gt; </a:t>
            </a: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함수는 데이터 값을 결과 값으로 반환하는 데 사용되며</a:t>
            </a:r>
            <a:r>
              <a:rPr lang="en-US" altLang="ko-KR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,</a:t>
            </a:r>
          </a:p>
          <a:p>
            <a:pPr>
              <a:lnSpc>
                <a:spcPts val="4500"/>
              </a:lnSpc>
            </a:pPr>
            <a:r>
              <a:rPr lang="ko-KR" alt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모든 함수는 다른 함수에 의해 사용될 수 있는 어떤 값을 반환</a:t>
            </a:r>
            <a:endParaRPr lang="en-US" sz="2000" dirty="0">
              <a:solidFill>
                <a:srgbClr val="F9FDFF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64D898E-7D70-469B-80A9-E10AA451F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99" y="3619500"/>
            <a:ext cx="9368770" cy="1357313"/>
          </a:xfrm>
          <a:prstGeom prst="rect">
            <a:avLst/>
          </a:prstGeom>
          <a:effectLst>
            <a:outerShdw blurRad="304800" dist="50800" dir="5400000" sx="103000" sy="103000" algn="ctr" rotWithShape="0">
              <a:srgbClr val="000000">
                <a:alpha val="74000"/>
              </a:srgbClr>
            </a:outerShdw>
          </a:effec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6E23632-3AEE-446E-ADC8-F6E6A0959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70" y="5383519"/>
            <a:ext cx="9424505" cy="720075"/>
          </a:xfrm>
          <a:prstGeom prst="rect">
            <a:avLst/>
          </a:prstGeom>
          <a:effectLst>
            <a:outerShdw blurRad="304800" dist="50800" dir="5400000" sx="103000" sy="103000" algn="ctr" rotWithShape="0">
              <a:srgbClr val="000000">
                <a:alpha val="7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335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943100" y="3432000"/>
            <a:ext cx="12611100" cy="2292044"/>
            <a:chOff x="0" y="444004"/>
            <a:chExt cx="11430528" cy="2537180"/>
          </a:xfrm>
        </p:grpSpPr>
        <p:sp>
          <p:nvSpPr>
            <p:cNvPr id="6" name="TextBox 6"/>
            <p:cNvSpPr txBox="1"/>
            <p:nvPr/>
          </p:nvSpPr>
          <p:spPr>
            <a:xfrm>
              <a:off x="0" y="444004"/>
              <a:ext cx="11430528" cy="15304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64"/>
                </a:lnSpc>
              </a:pPr>
              <a:r>
                <a:rPr lang="en-US" sz="8800" spc="331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Curried Function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49340"/>
              <a:ext cx="11430528" cy="631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291"/>
                </a:lnSpc>
              </a:pPr>
              <a:r>
                <a:rPr lang="ko-KR" altLang="en-US" sz="20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 여러 개의 매개변수를 받는 함수를</a:t>
              </a:r>
              <a:r>
                <a:rPr lang="en-US" altLang="ko-KR" sz="20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 </a:t>
              </a:r>
              <a:r>
                <a:rPr lang="ko-KR" altLang="en-US" sz="2000" dirty="0">
                  <a:solidFill>
                    <a:srgbClr val="F9FDFF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하나의 인수만 사용하는 구성으로 만드는 것</a:t>
              </a:r>
              <a:endPara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39250" y="571500"/>
            <a:ext cx="8477250" cy="9144000"/>
            <a:chOff x="0" y="0"/>
            <a:chExt cx="4866749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6749" cy="5249527"/>
            </a:xfrm>
            <a:custGeom>
              <a:avLst/>
              <a:gdLst/>
              <a:ahLst/>
              <a:cxnLst/>
              <a:rect l="l" t="t" r="r" b="b"/>
              <a:pathLst>
                <a:path w="4866749" h="5249527">
                  <a:moveTo>
                    <a:pt x="4742289" y="59690"/>
                  </a:moveTo>
                  <a:cubicBezTo>
                    <a:pt x="4777849" y="59690"/>
                    <a:pt x="4807059" y="88900"/>
                    <a:pt x="4807059" y="124460"/>
                  </a:cubicBezTo>
                  <a:lnTo>
                    <a:pt x="4807059" y="5125067"/>
                  </a:lnTo>
                  <a:cubicBezTo>
                    <a:pt x="4807059" y="5160627"/>
                    <a:pt x="4777849" y="5189837"/>
                    <a:pt x="4742289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42289" y="59690"/>
                  </a:lnTo>
                  <a:moveTo>
                    <a:pt x="474228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4742289" y="5249527"/>
                  </a:lnTo>
                  <a:cubicBezTo>
                    <a:pt x="4810869" y="5249527"/>
                    <a:pt x="4866749" y="5193647"/>
                    <a:pt x="4866749" y="5125067"/>
                  </a:cubicBezTo>
                  <a:lnTo>
                    <a:pt x="4866749" y="124460"/>
                  </a:lnTo>
                  <a:cubicBezTo>
                    <a:pt x="4866749" y="55880"/>
                    <a:pt x="4810869" y="0"/>
                    <a:pt x="4742289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71500" y="571500"/>
            <a:ext cx="8477250" cy="9144000"/>
            <a:chOff x="0" y="0"/>
            <a:chExt cx="4866749" cy="52495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66749" cy="5249527"/>
            </a:xfrm>
            <a:custGeom>
              <a:avLst/>
              <a:gdLst/>
              <a:ahLst/>
              <a:cxnLst/>
              <a:rect l="l" t="t" r="r" b="b"/>
              <a:pathLst>
                <a:path w="4866749" h="5249527">
                  <a:moveTo>
                    <a:pt x="4742289" y="59690"/>
                  </a:moveTo>
                  <a:cubicBezTo>
                    <a:pt x="4777849" y="59690"/>
                    <a:pt x="4807059" y="88900"/>
                    <a:pt x="4807059" y="124460"/>
                  </a:cubicBezTo>
                  <a:lnTo>
                    <a:pt x="4807059" y="5125067"/>
                  </a:lnTo>
                  <a:cubicBezTo>
                    <a:pt x="4807059" y="5160627"/>
                    <a:pt x="4777849" y="5189837"/>
                    <a:pt x="4742289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742289" y="59690"/>
                  </a:lnTo>
                  <a:moveTo>
                    <a:pt x="474228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4742289" y="5249527"/>
                  </a:lnTo>
                  <a:cubicBezTo>
                    <a:pt x="4810869" y="5249527"/>
                    <a:pt x="4866749" y="5193647"/>
                    <a:pt x="4866749" y="5125067"/>
                  </a:cubicBezTo>
                  <a:lnTo>
                    <a:pt x="4866749" y="124460"/>
                  </a:lnTo>
                  <a:cubicBezTo>
                    <a:pt x="4866749" y="55880"/>
                    <a:pt x="4810869" y="0"/>
                    <a:pt x="4742289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14" name="TextBox 4">
            <a:extLst>
              <a:ext uri="{FF2B5EF4-FFF2-40B4-BE49-F238E27FC236}">
                <a16:creationId xmlns:a16="http://schemas.microsoft.com/office/drawing/2014/main" id="{CD9AF335-EF52-47E7-8D6C-01935CABBAE2}"/>
              </a:ext>
            </a:extLst>
          </p:cNvPr>
          <p:cNvSpPr txBox="1"/>
          <p:nvPr/>
        </p:nvSpPr>
        <p:spPr>
          <a:xfrm>
            <a:off x="571500" y="168442"/>
            <a:ext cx="8382000" cy="38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19"/>
              </a:lnSpc>
            </a:pPr>
            <a:r>
              <a:rPr lang="en-US" sz="2000" spc="319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Curried Function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2C3F29F-9EE8-4D22-9B0C-4D6C94F55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139" y="1795130"/>
            <a:ext cx="4721268" cy="684000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3CAAAD8-01C3-40EA-965F-E13E8B4508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963"/>
          <a:stretch/>
        </p:blipFill>
        <p:spPr>
          <a:xfrm>
            <a:off x="11121889" y="1790700"/>
            <a:ext cx="4711972" cy="684000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F985568-EB80-4BF2-A49D-E2BF4BDFA4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47975"/>
          <a:stretch/>
        </p:blipFill>
        <p:spPr>
          <a:xfrm>
            <a:off x="2454139" y="2859300"/>
            <a:ext cx="3771098" cy="504000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903311E-0E3A-4DD1-A9A6-F988A613D84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951"/>
          <a:stretch/>
        </p:blipFill>
        <p:spPr>
          <a:xfrm>
            <a:off x="11121889" y="2859300"/>
            <a:ext cx="3860787" cy="504000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4665C8-DCC6-4640-9286-D35776BA7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617" y="3087334"/>
            <a:ext cx="7947767" cy="4648200"/>
          </a:xfrm>
          <a:prstGeom prst="rect">
            <a:avLst/>
          </a:prstGeom>
          <a:effectLst>
            <a:outerShdw blurRad="330200" dist="50800" dir="5400000" sx="103000" sy="103000" algn="ctr" rotWithShape="0">
              <a:srgbClr val="000000">
                <a:alpha val="76000"/>
              </a:srgbClr>
            </a:outerShdw>
          </a:effectLst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C49CC383-6740-43FE-85FC-22E4D39ACAD5}"/>
              </a:ext>
            </a:extLst>
          </p:cNvPr>
          <p:cNvGrpSpPr/>
          <p:nvPr/>
        </p:nvGrpSpPr>
        <p:grpSpPr>
          <a:xfrm>
            <a:off x="10591800" y="4176948"/>
            <a:ext cx="6476999" cy="1316683"/>
            <a:chOff x="10591800" y="4176948"/>
            <a:chExt cx="6476999" cy="1316683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8B18E2F8-3B2F-410B-9DC8-1DA02C09ED4D}"/>
                </a:ext>
              </a:extLst>
            </p:cNvPr>
            <p:cNvGrpSpPr/>
            <p:nvPr/>
          </p:nvGrpSpPr>
          <p:grpSpPr>
            <a:xfrm>
              <a:off x="11734800" y="4176948"/>
              <a:ext cx="5333999" cy="1316683"/>
              <a:chOff x="0" y="31552"/>
              <a:chExt cx="8890533" cy="2802602"/>
            </a:xfrm>
          </p:grpSpPr>
          <p:sp>
            <p:nvSpPr>
              <p:cNvPr id="25" name="TextBox 5">
                <a:extLst>
                  <a:ext uri="{FF2B5EF4-FFF2-40B4-BE49-F238E27FC236}">
                    <a16:creationId xmlns:a16="http://schemas.microsoft.com/office/drawing/2014/main" id="{6D7EED64-0349-4B61-8357-B7F5EB4F147C}"/>
                  </a:ext>
                </a:extLst>
              </p:cNvPr>
              <p:cNvSpPr txBox="1"/>
              <p:nvPr/>
            </p:nvSpPr>
            <p:spPr>
              <a:xfrm>
                <a:off x="0" y="31552"/>
                <a:ext cx="8890533" cy="93026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3960"/>
                  </a:lnSpc>
                </a:pPr>
                <a:r>
                  <a:rPr lang="ko-KR" altLang="en-US" sz="2400" spc="36" dirty="0">
                    <a:solidFill>
                      <a:srgbClr val="F4CC7D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타입은 우측 결합</a:t>
                </a:r>
                <a:endParaRPr lang="en-US" sz="2400" spc="3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C791F2B1-B719-4B36-BECF-8D79F0D16C28}"/>
                  </a:ext>
                </a:extLst>
              </p:cNvPr>
              <p:cNvSpPr txBox="1"/>
              <p:nvPr/>
            </p:nvSpPr>
            <p:spPr>
              <a:xfrm>
                <a:off x="0" y="887652"/>
                <a:ext cx="8890533" cy="19465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3900"/>
                  </a:lnSpc>
                </a:pPr>
                <a:r>
                  <a:rPr lang="en-US" altLang="ko-KR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Int -&gt; Int -&gt; Int -&gt; Int</a:t>
                </a:r>
              </a:p>
              <a:p>
                <a:pPr>
                  <a:lnSpc>
                    <a:spcPts val="3900"/>
                  </a:lnSpc>
                </a:pPr>
                <a:r>
                  <a:rPr lang="en-US" altLang="ko-KR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	Int</a:t>
                </a:r>
                <a:r>
                  <a:rPr lang="ko-KR" altLang="en-US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 </a:t>
                </a:r>
                <a:r>
                  <a:rPr lang="en-US" altLang="ko-KR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-&gt;</a:t>
                </a:r>
                <a:r>
                  <a:rPr lang="ko-KR" altLang="en-US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 </a:t>
                </a:r>
                <a:r>
                  <a:rPr lang="en-US" altLang="ko-KR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(Int</a:t>
                </a:r>
                <a:r>
                  <a:rPr lang="ko-KR" altLang="en-US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 </a:t>
                </a:r>
                <a:r>
                  <a:rPr lang="en-US" altLang="ko-KR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-&gt;</a:t>
                </a:r>
                <a:r>
                  <a:rPr lang="ko-KR" altLang="en-US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 </a:t>
                </a:r>
                <a:r>
                  <a:rPr lang="en-US" altLang="ko-KR" dirty="0">
                    <a:solidFill>
                      <a:srgbClr val="F9FDFF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rPr>
                  <a:t>(Int -&gt; Int))</a:t>
                </a:r>
              </a:p>
            </p:txBody>
          </p:sp>
        </p:grpSp>
        <p:pic>
          <p:nvPicPr>
            <p:cNvPr id="23" name="Picture 18">
              <a:extLst>
                <a:ext uri="{FF2B5EF4-FFF2-40B4-BE49-F238E27FC236}">
                  <a16:creationId xmlns:a16="http://schemas.microsoft.com/office/drawing/2014/main" id="{0B4870C7-1E95-4F67-8CE8-D484E058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591800" y="4381499"/>
              <a:ext cx="388239" cy="388239"/>
            </a:xfrm>
            <a:prstGeom prst="rect">
              <a:avLst/>
            </a:prstGeom>
          </p:spPr>
        </p:pic>
        <p:sp>
          <p:nvSpPr>
            <p:cNvPr id="24" name="화살표: 위로 굽음 23">
              <a:extLst>
                <a:ext uri="{FF2B5EF4-FFF2-40B4-BE49-F238E27FC236}">
                  <a16:creationId xmlns:a16="http://schemas.microsoft.com/office/drawing/2014/main" id="{CA610AE4-B70E-4223-8F2D-369D364731E0}"/>
                </a:ext>
              </a:extLst>
            </p:cNvPr>
            <p:cNvSpPr/>
            <p:nvPr/>
          </p:nvSpPr>
          <p:spPr>
            <a:xfrm rot="5400000">
              <a:off x="12344400" y="5247639"/>
              <a:ext cx="180000" cy="180000"/>
            </a:xfrm>
            <a:prstGeom prst="bentUp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2B9D23E-CA6C-45C2-9D09-0BE08013D649}"/>
              </a:ext>
            </a:extLst>
          </p:cNvPr>
          <p:cNvGrpSpPr/>
          <p:nvPr/>
        </p:nvGrpSpPr>
        <p:grpSpPr>
          <a:xfrm>
            <a:off x="10591800" y="6646217"/>
            <a:ext cx="6476999" cy="1786794"/>
            <a:chOff x="10591800" y="6646217"/>
            <a:chExt cx="6476999" cy="178679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0D6DFEC-4CEB-4FB5-967F-E82E84E1C8F8}"/>
                </a:ext>
              </a:extLst>
            </p:cNvPr>
            <p:cNvGrpSpPr/>
            <p:nvPr/>
          </p:nvGrpSpPr>
          <p:grpSpPr>
            <a:xfrm>
              <a:off x="10591800" y="6646217"/>
              <a:ext cx="6476999" cy="1316683"/>
              <a:chOff x="10591800" y="5793765"/>
              <a:chExt cx="6476999" cy="1316683"/>
            </a:xfrm>
          </p:grpSpPr>
          <p:grpSp>
            <p:nvGrpSpPr>
              <p:cNvPr id="28" name="Group 4">
                <a:extLst>
                  <a:ext uri="{FF2B5EF4-FFF2-40B4-BE49-F238E27FC236}">
                    <a16:creationId xmlns:a16="http://schemas.microsoft.com/office/drawing/2014/main" id="{480054E3-AD28-4C10-804A-27C2811966A5}"/>
                  </a:ext>
                </a:extLst>
              </p:cNvPr>
              <p:cNvGrpSpPr/>
              <p:nvPr/>
            </p:nvGrpSpPr>
            <p:grpSpPr>
              <a:xfrm>
                <a:off x="11734800" y="5793765"/>
                <a:ext cx="5333999" cy="1316683"/>
                <a:chOff x="0" y="31552"/>
                <a:chExt cx="8890533" cy="2802602"/>
              </a:xfrm>
            </p:grpSpPr>
            <p:sp>
              <p:nvSpPr>
                <p:cNvPr id="31" name="TextBox 5">
                  <a:extLst>
                    <a:ext uri="{FF2B5EF4-FFF2-40B4-BE49-F238E27FC236}">
                      <a16:creationId xmlns:a16="http://schemas.microsoft.com/office/drawing/2014/main" id="{BA003939-4833-4DB9-B21C-FBF8B9F881E5}"/>
                    </a:ext>
                  </a:extLst>
                </p:cNvPr>
                <p:cNvSpPr txBox="1"/>
                <p:nvPr/>
              </p:nvSpPr>
              <p:spPr>
                <a:xfrm>
                  <a:off x="0" y="31552"/>
                  <a:ext cx="8890533" cy="93026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>
                    <a:lnSpc>
                      <a:spcPts val="3960"/>
                    </a:lnSpc>
                  </a:pPr>
                  <a:r>
                    <a:rPr lang="ko-KR" altLang="en-US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함수 적용</a:t>
                  </a:r>
                  <a:r>
                    <a:rPr lang="en-US" altLang="ko-KR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(</a:t>
                  </a:r>
                  <a:r>
                    <a:rPr lang="ko-KR" altLang="en-US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호출</a:t>
                  </a:r>
                  <a:r>
                    <a:rPr lang="en-US" altLang="ko-KR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)</a:t>
                  </a:r>
                  <a:r>
                    <a:rPr lang="ko-KR" altLang="en-US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은 좌측</a:t>
                  </a:r>
                  <a:r>
                    <a:rPr lang="en-US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 </a:t>
                  </a:r>
                  <a:r>
                    <a:rPr lang="ko-KR" altLang="en-US" sz="2400" spc="36" dirty="0">
                      <a:solidFill>
                        <a:srgbClr val="F4CC7D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결합</a:t>
                  </a:r>
                  <a:endParaRPr lang="en-US" sz="2400" spc="36" dirty="0">
                    <a:solidFill>
                      <a:srgbClr val="F4CC7D"/>
                    </a:solidFill>
                    <a:latin typeface="HY그래픽M" panose="02030600000101010101" pitchFamily="18" charset="-127"/>
                    <a:ea typeface="HY그래픽M" panose="02030600000101010101" pitchFamily="18" charset="-127"/>
                  </a:endParaRPr>
                </a:p>
              </p:txBody>
            </p:sp>
            <p:sp>
              <p:nvSpPr>
                <p:cNvPr id="32" name="TextBox 6">
                  <a:extLst>
                    <a:ext uri="{FF2B5EF4-FFF2-40B4-BE49-F238E27FC236}">
                      <a16:creationId xmlns:a16="http://schemas.microsoft.com/office/drawing/2014/main" id="{455AC110-EE89-4F25-BB2E-58E7CD5F80BA}"/>
                    </a:ext>
                  </a:extLst>
                </p:cNvPr>
                <p:cNvSpPr txBox="1"/>
                <p:nvPr/>
              </p:nvSpPr>
              <p:spPr>
                <a:xfrm>
                  <a:off x="0" y="887652"/>
                  <a:ext cx="8890533" cy="1946502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>
                    <a:lnSpc>
                      <a:spcPts val="3900"/>
                    </a:lnSpc>
                  </a:pPr>
                  <a:r>
                    <a:rPr lang="en-US" dirty="0" err="1">
                      <a:solidFill>
                        <a:srgbClr val="F9FDFF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Add’x</a:t>
                  </a:r>
                  <a:r>
                    <a:rPr lang="en-US" dirty="0">
                      <a:solidFill>
                        <a:srgbClr val="F9FDFF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 y</a:t>
                  </a:r>
                </a:p>
                <a:p>
                  <a:pPr>
                    <a:lnSpc>
                      <a:spcPts val="3900"/>
                    </a:lnSpc>
                  </a:pPr>
                  <a:r>
                    <a:rPr lang="en-US" altLang="ko-KR" dirty="0">
                      <a:solidFill>
                        <a:srgbClr val="F9FDFF"/>
                      </a:solidFill>
                      <a:latin typeface="HY그래픽M" panose="02030600000101010101" pitchFamily="18" charset="-127"/>
                      <a:ea typeface="HY그래픽M" panose="02030600000101010101" pitchFamily="18" charset="-127"/>
                    </a:rPr>
                    <a:t>	(add’ x) y</a:t>
                  </a:r>
                </a:p>
              </p:txBody>
            </p:sp>
          </p:grpSp>
          <p:pic>
            <p:nvPicPr>
              <p:cNvPr id="29" name="Picture 18">
                <a:extLst>
                  <a:ext uri="{FF2B5EF4-FFF2-40B4-BE49-F238E27FC236}">
                    <a16:creationId xmlns:a16="http://schemas.microsoft.com/office/drawing/2014/main" id="{ED44D5F0-E7FE-4F54-89F9-8F2678B93F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0591800" y="5998316"/>
                <a:ext cx="388239" cy="388239"/>
              </a:xfrm>
              <a:prstGeom prst="rect">
                <a:avLst/>
              </a:prstGeom>
            </p:spPr>
          </p:pic>
          <p:sp>
            <p:nvSpPr>
              <p:cNvPr id="30" name="화살표: 위로 굽음 29">
                <a:extLst>
                  <a:ext uri="{FF2B5EF4-FFF2-40B4-BE49-F238E27FC236}">
                    <a16:creationId xmlns:a16="http://schemas.microsoft.com/office/drawing/2014/main" id="{B140BDFF-E432-4226-B07F-F3B8EEB8D1C8}"/>
                  </a:ext>
                </a:extLst>
              </p:cNvPr>
              <p:cNvSpPr/>
              <p:nvPr/>
            </p:nvSpPr>
            <p:spPr>
              <a:xfrm rot="5400000">
                <a:off x="12344400" y="6868500"/>
                <a:ext cx="180000" cy="180000"/>
              </a:xfrm>
              <a:prstGeom prst="bentUpArrow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HY그래픽M" panose="02030600000101010101" pitchFamily="18" charset="-127"/>
                  <a:ea typeface="HY그래픽M" panose="02030600000101010101" pitchFamily="18" charset="-127"/>
                </a:endParaRPr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09462260-1E7B-4189-B29D-2524AB07B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725400" y="8137736"/>
              <a:ext cx="2476500" cy="295275"/>
            </a:xfrm>
            <a:prstGeom prst="rect">
              <a:avLst/>
            </a:prstGeom>
            <a:effectLst>
              <a:outerShdw blurRad="304800" dist="50800" dir="5400000" sx="103000" sy="103000" algn="ctr" rotWithShape="0">
                <a:srgbClr val="000000">
                  <a:alpha val="74000"/>
                </a:srgbClr>
              </a:outerShdw>
            </a:effectLst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144C21D-3887-43FF-9474-534E86429A90}"/>
              </a:ext>
            </a:extLst>
          </p:cNvPr>
          <p:cNvSpPr txBox="1"/>
          <p:nvPr/>
        </p:nvSpPr>
        <p:spPr>
          <a:xfrm>
            <a:off x="14802358" y="133395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Curried </a:t>
            </a:r>
            <a:endParaRPr lang="ko-KR" altLang="en-US" dirty="0">
              <a:solidFill>
                <a:schemeClr val="bg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647700" y="4592745"/>
            <a:ext cx="16992600" cy="9525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5" name="AutoShape 5"/>
          <p:cNvSpPr/>
          <p:nvPr/>
        </p:nvSpPr>
        <p:spPr>
          <a:xfrm>
            <a:off x="9085558" y="4478445"/>
            <a:ext cx="97834" cy="3048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6" name="AutoShape 6"/>
          <p:cNvSpPr/>
          <p:nvPr/>
        </p:nvSpPr>
        <p:spPr>
          <a:xfrm>
            <a:off x="14600333" y="4478445"/>
            <a:ext cx="97834" cy="3048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7" name="AutoShape 7"/>
          <p:cNvSpPr/>
          <p:nvPr/>
        </p:nvSpPr>
        <p:spPr>
          <a:xfrm>
            <a:off x="3562061" y="4478445"/>
            <a:ext cx="97834" cy="304800"/>
          </a:xfrm>
          <a:prstGeom prst="rect">
            <a:avLst/>
          </a:prstGeom>
          <a:solidFill>
            <a:srgbClr val="F4CC7D"/>
          </a:solidFill>
        </p:spPr>
      </p:sp>
      <p:sp>
        <p:nvSpPr>
          <p:cNvPr id="11" name="TextBox 11"/>
          <p:cNvSpPr txBox="1"/>
          <p:nvPr/>
        </p:nvSpPr>
        <p:spPr>
          <a:xfrm>
            <a:off x="6762550" y="5380604"/>
            <a:ext cx="4762900" cy="82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ko-KR" altLang="en-US" sz="16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도서</a:t>
            </a:r>
            <a:r>
              <a:rPr lang="en-US" altLang="ko-KR" sz="16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-</a:t>
            </a:r>
            <a:r>
              <a:rPr lang="ko-KR" altLang="en-US" sz="1640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하스켈로</a:t>
            </a:r>
            <a:r>
              <a:rPr lang="ko-KR" altLang="en-US" sz="16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배우는 프로그래밍</a:t>
            </a:r>
            <a:r>
              <a:rPr lang="en-US" altLang="ko-KR" sz="16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, Graham Hutton</a:t>
            </a:r>
          </a:p>
          <a:p>
            <a:pPr algn="ctr">
              <a:lnSpc>
                <a:spcPts val="3519"/>
              </a:lnSpc>
            </a:pPr>
            <a:r>
              <a:rPr lang="ko-KR" altLang="en-US" sz="200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블로그</a:t>
            </a:r>
            <a:r>
              <a:rPr lang="en-US" altLang="ko-KR" sz="200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- </a:t>
            </a:r>
            <a:r>
              <a:rPr lang="ko-KR" altLang="en-US" sz="2000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갈루아의</a:t>
            </a:r>
            <a:r>
              <a:rPr lang="ko-KR" altLang="en-US" sz="200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</a:t>
            </a:r>
            <a:r>
              <a:rPr lang="ko-KR" altLang="en-US" sz="2000" dirty="0" err="1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반서재</a:t>
            </a:r>
            <a:r>
              <a:rPr lang="ko-KR" altLang="en-US" sz="200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 </a:t>
            </a:r>
            <a:r>
              <a:rPr lang="en-US" altLang="ko-KR" sz="200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(antilibrary.org)</a:t>
            </a:r>
            <a:endParaRPr lang="en-US" sz="20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267800" y="5380604"/>
            <a:ext cx="4762900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0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https://www.canva.com/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9528" y="5380604"/>
            <a:ext cx="4762900" cy="380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ko-KR" altLang="en-US" sz="2000" spc="319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고급프로그래밍 강의자료</a:t>
            </a:r>
            <a:endParaRPr lang="en-US" sz="2000" spc="319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762052" y="1329759"/>
            <a:ext cx="12763896" cy="96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ko-KR" altLang="en-US" sz="4400" spc="240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참고자료</a:t>
            </a:r>
            <a:endParaRPr lang="en-US" sz="4400" spc="240" dirty="0">
              <a:solidFill>
                <a:srgbClr val="F4CC7D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571500"/>
            <a:ext cx="17145000" cy="9144000"/>
            <a:chOff x="0" y="0"/>
            <a:chExt cx="9842863" cy="5249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863" cy="5249527"/>
            </a:xfrm>
            <a:custGeom>
              <a:avLst/>
              <a:gdLst/>
              <a:ahLst/>
              <a:cxnLst/>
              <a:rect l="l" t="t" r="r" b="b"/>
              <a:pathLst>
                <a:path w="9842863" h="5249527">
                  <a:moveTo>
                    <a:pt x="9718403" y="59690"/>
                  </a:moveTo>
                  <a:cubicBezTo>
                    <a:pt x="9753963" y="59690"/>
                    <a:pt x="9783173" y="88900"/>
                    <a:pt x="9783173" y="124460"/>
                  </a:cubicBezTo>
                  <a:lnTo>
                    <a:pt x="9783173" y="5125067"/>
                  </a:lnTo>
                  <a:cubicBezTo>
                    <a:pt x="9783173" y="5160627"/>
                    <a:pt x="9753963" y="5189837"/>
                    <a:pt x="9718403" y="5189837"/>
                  </a:cubicBezTo>
                  <a:lnTo>
                    <a:pt x="124460" y="5189837"/>
                  </a:lnTo>
                  <a:cubicBezTo>
                    <a:pt x="88900" y="5189837"/>
                    <a:pt x="59690" y="5160627"/>
                    <a:pt x="59690" y="512506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9718403" y="59690"/>
                  </a:lnTo>
                  <a:moveTo>
                    <a:pt x="9718403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125067"/>
                  </a:lnTo>
                  <a:cubicBezTo>
                    <a:pt x="0" y="5193647"/>
                    <a:pt x="55880" y="5249527"/>
                    <a:pt x="124460" y="5249527"/>
                  </a:cubicBezTo>
                  <a:lnTo>
                    <a:pt x="9718403" y="5249527"/>
                  </a:lnTo>
                  <a:cubicBezTo>
                    <a:pt x="9786983" y="5249527"/>
                    <a:pt x="9842863" y="5193647"/>
                    <a:pt x="9842863" y="5125067"/>
                  </a:cubicBezTo>
                  <a:lnTo>
                    <a:pt x="9842863" y="124460"/>
                  </a:lnTo>
                  <a:cubicBezTo>
                    <a:pt x="9842863" y="55880"/>
                    <a:pt x="9786983" y="0"/>
                    <a:pt x="9718403" y="0"/>
                  </a:cubicBezTo>
                  <a:close/>
                </a:path>
              </a:pathLst>
            </a:custGeom>
            <a:solidFill>
              <a:srgbClr val="F4CC7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451883" y="2625326"/>
            <a:ext cx="13384232" cy="2792490"/>
            <a:chOff x="-1" y="-3572"/>
            <a:chExt cx="17845643" cy="3723318"/>
          </a:xfrm>
        </p:grpSpPr>
        <p:sp>
          <p:nvSpPr>
            <p:cNvPr id="7" name="TextBox 7"/>
            <p:cNvSpPr txBox="1"/>
            <p:nvPr/>
          </p:nvSpPr>
          <p:spPr>
            <a:xfrm>
              <a:off x="2575268" y="-3572"/>
              <a:ext cx="12695108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endParaRPr lang="en-US" sz="3000" spc="3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1" y="2981082"/>
              <a:ext cx="17845643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ko-KR" altLang="en-US" sz="36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감사합니다</a:t>
              </a:r>
              <a:r>
                <a:rPr lang="en-US" altLang="ko-KR" sz="3600" spc="416" dirty="0">
                  <a:solidFill>
                    <a:srgbClr val="F4CC7D"/>
                  </a:solidFill>
                  <a:latin typeface="HY그래픽M" panose="02030600000101010101" pitchFamily="18" charset="-127"/>
                  <a:ea typeface="HY그래픽M" panose="02030600000101010101" pitchFamily="18" charset="-127"/>
                </a:rPr>
                <a:t>.</a:t>
              </a:r>
              <a:endParaRPr lang="en-US" altLang="ko-KR" sz="1000" spc="416" dirty="0">
                <a:solidFill>
                  <a:srgbClr val="F4CC7D"/>
                </a:solidFill>
                <a:latin typeface="HY그래픽M" panose="02030600000101010101" pitchFamily="18" charset="-127"/>
                <a:ea typeface="HY그래픽M" panose="02030600000101010101" pitchFamily="18" charset="-127"/>
              </a:endParaRPr>
            </a:p>
          </p:txBody>
        </p:sp>
      </p:grpSp>
      <p:sp>
        <p:nvSpPr>
          <p:cNvPr id="12" name="TextBox 9">
            <a:extLst>
              <a:ext uri="{FF2B5EF4-FFF2-40B4-BE49-F238E27FC236}">
                <a16:creationId xmlns:a16="http://schemas.microsoft.com/office/drawing/2014/main" id="{DCB16833-4C27-4B9D-92D0-A480E6288615}"/>
              </a:ext>
            </a:extLst>
          </p:cNvPr>
          <p:cNvSpPr txBox="1"/>
          <p:nvPr/>
        </p:nvSpPr>
        <p:spPr>
          <a:xfrm>
            <a:off x="4383334" y="9771023"/>
            <a:ext cx="9521331" cy="43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2000" dirty="0">
                <a:solidFill>
                  <a:srgbClr val="F9FD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2020.04.22</a:t>
            </a:r>
          </a:p>
        </p:txBody>
      </p:sp>
    </p:spTree>
    <p:extLst>
      <p:ext uri="{BB962C8B-B14F-4D97-AF65-F5344CB8AC3E}">
        <p14:creationId xmlns:p14="http://schemas.microsoft.com/office/powerpoint/2010/main" val="3007857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374</Words>
  <Application>Microsoft Office PowerPoint</Application>
  <PresentationFormat>사용자 지정</PresentationFormat>
  <Paragraphs>74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HY그래픽M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suyeon</dc:creator>
  <cp:lastModifiedBy>김 수연</cp:lastModifiedBy>
  <cp:revision>30</cp:revision>
  <dcterms:created xsi:type="dcterms:W3CDTF">2006-08-16T00:00:00Z</dcterms:created>
  <dcterms:modified xsi:type="dcterms:W3CDTF">2021-04-21T17:38:06Z</dcterms:modified>
  <dc:identifier>DAEcR8prpW0</dc:identifier>
</cp:coreProperties>
</file>